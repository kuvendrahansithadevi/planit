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058400" cy="77724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1pPr>
    <a:lvl2pPr marL="228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2pPr>
    <a:lvl3pPr marL="457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3pPr>
    <a:lvl4pPr marL="6858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4pPr>
    <a:lvl5pPr marL="9144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5pPr>
    <a:lvl6pPr marL="11430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6pPr>
    <a:lvl7pPr marL="13716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7pPr>
    <a:lvl8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8pPr>
    <a:lvl9pPr marL="1600200" algn="l" defTabSz="914400" fontAlgn="base" hangingPunct="0">
      <a:defRPr sz="2400">
        <a:solidFill>
          <a:schemeClr val="tx1"/>
        </a:solidFill>
        <a:latin typeface="Droid Sans"/>
        <a:ea typeface="Droid Sans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 autoAdjust="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‹#›</a:t>
            </a:fld>
            <a:endParaRPr lang="zh-CN" altLang="en-US" sz="1200"/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4359275" cy="3889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/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/>
              <a:t>2/22/2026</a:t>
            </a:fld>
            <a:endParaRPr lang="zh-CN" altLang="en-US" sz="1200"/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6824440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1pPr>
    <a:lvl2pPr marL="4572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2pPr>
    <a:lvl3pPr marL="9144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3pPr>
    <a:lvl4pPr marL="13716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4pPr>
    <a:lvl5pPr marL="18288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5pPr>
    <a:lvl6pPr marL="22860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6pPr>
    <a:lvl7pPr marL="27432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7pPr>
    <a:lvl8pPr marL="32004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8pPr>
    <a:lvl9pPr marL="3200400" indent="0" algn="l" defTabSz="914400" fontAlgn="base" hangingPunct="0">
      <a:lnSpc>
        <a:spcPct val="100000"/>
      </a:lnSpc>
      <a:spcBef>
        <a:spcPts val="0"/>
      </a:spcBef>
      <a:spcAft>
        <a:spcPts val="0"/>
      </a:spcAft>
      <a:buNone/>
      <a:defRPr sz="3300" b="0" i="0" u="none" strike="noStrike" kern="0" cap="none" spc="0" baseline="0">
        <a:solidFill>
          <a:schemeClr val="tx1"/>
        </a:solidFill>
        <a:latin typeface="Droid Sans"/>
        <a:ea typeface="Droid Sans"/>
        <a:cs typeface="Times New Roman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06154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41103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6972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99843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1485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11308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497781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9891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9</a:t>
            </a:fld>
            <a:endParaRPr lang="zh-CN" altLang="en-US" sz="1200"/>
          </a:p>
        </p:txBody>
      </p:sp>
      <p:sp>
        <p:nvSpPr>
          <p:cNvPr id="84" name="对象"/>
          <p:cNvSpPr>
            <a:spLocks noGrp="1" noRot="1" noChangeAspect="1"/>
          </p:cNvSpPr>
          <p:nvPr>
            <p:ph type="sldImg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85" name="文本框"/>
          <p:cNvSpPr>
            <a:spLocks noGrp="1"/>
          </p:cNvSpPr>
          <p:nvPr>
            <p:ph type="body" idx="1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664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82387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solidFill>
                  <a:schemeClr val="tx1"/>
                </a:solidFill>
                <a:latin typeface="Droid Sans"/>
                <a:ea typeface="Droid Sans"/>
                <a:cs typeface="Lucida Sans"/>
              </a:rPr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671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754380" y="2414481"/>
            <a:ext cx="8549640" cy="16660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508760" y="4404359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58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9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4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79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91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9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12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471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9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956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endParaRPr lang="zh-CN" altLang="en-US" sz="2300" b="1" i="0">
              <a:solidFill>
                <a:srgbClr val="375F92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body" idx="1"/>
          </p:nvPr>
        </p:nvSpPr>
        <p:spPr>
          <a:xfrm>
            <a:off x="621187" y="1409149"/>
            <a:ext cx="8949055" cy="32943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endParaRPr lang="zh-CN" altLang="en-US" sz="1950" b="1" i="0">
              <a:solidFill>
                <a:schemeClr val="tx1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ftr" idx="5"/>
          </p:nvPr>
        </p:nvSpPr>
        <p:spPr>
          <a:xfrm>
            <a:off x="3419856" y="7228332"/>
            <a:ext cx="3218688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dt" idx="6"/>
          </p:nvPr>
        </p:nvSpPr>
        <p:spPr>
          <a:xfrm>
            <a:off x="502919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 idx="7"/>
          </p:nvPr>
        </p:nvSpPr>
        <p:spPr>
          <a:xfrm>
            <a:off x="7242048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4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1"/>
            <a:ext cx="4601365" cy="70479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22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29"/>
            <a:ext cx="4997766" cy="10451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23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3903" y="251407"/>
            <a:ext cx="4577410" cy="5068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4" name="曲线"/>
          <p:cNvSpPr>
            <a:spLocks/>
          </p:cNvSpPr>
          <p:nvPr/>
        </p:nvSpPr>
        <p:spPr>
          <a:xfrm>
            <a:off x="2718911" y="290750"/>
            <a:ext cx="4471670" cy="400685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1188" y="0"/>
                </a:moveTo>
                <a:lnTo>
                  <a:pt x="409" y="0"/>
                </a:lnTo>
                <a:lnTo>
                  <a:pt x="250" y="282"/>
                </a:lnTo>
                <a:lnTo>
                  <a:pt x="119" y="1056"/>
                </a:lnTo>
                <a:lnTo>
                  <a:pt x="32" y="2197"/>
                </a:lnTo>
                <a:lnTo>
                  <a:pt x="0" y="3597"/>
                </a:lnTo>
                <a:lnTo>
                  <a:pt x="0" y="17995"/>
                </a:lnTo>
                <a:lnTo>
                  <a:pt x="32" y="19395"/>
                </a:lnTo>
                <a:lnTo>
                  <a:pt x="119" y="20542"/>
                </a:lnTo>
                <a:lnTo>
                  <a:pt x="250" y="21310"/>
                </a:lnTo>
                <a:lnTo>
                  <a:pt x="409" y="21592"/>
                </a:lnTo>
                <a:lnTo>
                  <a:pt x="21188" y="21592"/>
                </a:lnTo>
                <a:lnTo>
                  <a:pt x="21348" y="21310"/>
                </a:lnTo>
                <a:lnTo>
                  <a:pt x="21478" y="20542"/>
                </a:lnTo>
                <a:lnTo>
                  <a:pt x="21565" y="19395"/>
                </a:lnTo>
                <a:lnTo>
                  <a:pt x="21598" y="17995"/>
                </a:lnTo>
                <a:lnTo>
                  <a:pt x="21598" y="3597"/>
                </a:lnTo>
                <a:lnTo>
                  <a:pt x="21565" y="2197"/>
                </a:lnTo>
                <a:lnTo>
                  <a:pt x="21478" y="1056"/>
                </a:lnTo>
                <a:lnTo>
                  <a:pt x="21348" y="282"/>
                </a:lnTo>
                <a:lnTo>
                  <a:pt x="21188" y="0"/>
                </a:lnTo>
                <a:close/>
              </a:path>
            </a:pathLst>
          </a:custGeom>
          <a:solidFill>
            <a:srgbClr val="FF6600"/>
          </a:solidFill>
          <a:ln cap="flat" cmpd="sng">
            <a:noFill/>
            <a:prstDash val="solid"/>
            <a:miter/>
          </a:ln>
        </p:spPr>
      </p:sp>
      <p:pic>
        <p:nvPicPr>
          <p:cNvPr id="25" name="图片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" name="文本框"/>
          <p:cNvSpPr>
            <a:spLocks noGrp="1"/>
          </p:cNvSpPr>
          <p:nvPr>
            <p:ph type="ftr" idx="5"/>
          </p:nvPr>
        </p:nvSpPr>
        <p:spPr>
          <a:xfrm>
            <a:off x="3419856" y="7228332"/>
            <a:ext cx="3218688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27" name="文本框"/>
          <p:cNvSpPr>
            <a:spLocks noGrp="1"/>
          </p:cNvSpPr>
          <p:nvPr>
            <p:ph type="dt" idx="6"/>
          </p:nvPr>
        </p:nvSpPr>
        <p:spPr>
          <a:xfrm>
            <a:off x="502919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sldNum" idx="7"/>
          </p:nvPr>
        </p:nvSpPr>
        <p:spPr>
          <a:xfrm>
            <a:off x="7242048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40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"/>
          <p:cNvSpPr>
            <a:spLocks noGrp="1"/>
          </p:cNvSpPr>
          <p:nvPr>
            <p:ph type="title"/>
          </p:nvPr>
        </p:nvSpPr>
        <p:spPr>
          <a:xfrm>
            <a:off x="754379" y="2409444"/>
            <a:ext cx="8549641" cy="163220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endParaRPr lang="zh-CN" altLang="en-US" sz="2300" b="1" i="0">
              <a:solidFill>
                <a:srgbClr val="375F92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95" name="文本框"/>
          <p:cNvSpPr>
            <a:spLocks noGrp="1"/>
          </p:cNvSpPr>
          <p:nvPr>
            <p:ph type="body" idx="4"/>
          </p:nvPr>
        </p:nvSpPr>
        <p:spPr>
          <a:xfrm>
            <a:off x="1508759" y="4352544"/>
            <a:ext cx="7040880" cy="1943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endParaRPr lang="zh-CN" altLang="en-US" sz="1950" b="1" i="0">
              <a:solidFill>
                <a:schemeClr val="tx1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96" name="文本框"/>
          <p:cNvSpPr>
            <a:spLocks noGrp="1"/>
          </p:cNvSpPr>
          <p:nvPr>
            <p:ph type="ftr" idx="5"/>
          </p:nvPr>
        </p:nvSpPr>
        <p:spPr>
          <a:xfrm>
            <a:off x="3419856" y="7228332"/>
            <a:ext cx="3218688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97" name="文本框"/>
          <p:cNvSpPr>
            <a:spLocks noGrp="1"/>
          </p:cNvSpPr>
          <p:nvPr>
            <p:ph type="dt" idx="6"/>
          </p:nvPr>
        </p:nvSpPr>
        <p:spPr>
          <a:xfrm>
            <a:off x="502919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98" name="文本框"/>
          <p:cNvSpPr>
            <a:spLocks noGrp="1"/>
          </p:cNvSpPr>
          <p:nvPr>
            <p:ph type="sldNum" idx="7"/>
          </p:nvPr>
        </p:nvSpPr>
        <p:spPr>
          <a:xfrm>
            <a:off x="7242048" y="7228332"/>
            <a:ext cx="2313432" cy="388619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26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endParaRPr lang="zh-CN" altLang="en-US" sz="2300" b="1" i="0">
              <a:solidFill>
                <a:srgbClr val="375F92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21187" y="1409149"/>
            <a:ext cx="8949055" cy="32943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endParaRPr lang="zh-CN" altLang="en-US" sz="1950" b="1" i="0">
              <a:solidFill>
                <a:schemeClr val="tx1"/>
              </a:solidFill>
              <a:latin typeface="Palatino Linotype" charset="0"/>
              <a:cs typeface="Palatino Linotype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idx="5"/>
          </p:nvPr>
        </p:nvSpPr>
        <p:spPr>
          <a:xfrm>
            <a:off x="3419856" y="7228332"/>
            <a:ext cx="3218688" cy="3886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6"/>
          </p:nvPr>
        </p:nvSpPr>
        <p:spPr>
          <a:xfrm>
            <a:off x="502919" y="7228332"/>
            <a:ext cx="2313432" cy="3886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</a:rPr>
              <a:t>2/22/2026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7"/>
          </p:nvPr>
        </p:nvSpPr>
        <p:spPr>
          <a:xfrm>
            <a:off x="7242048" y="7228332"/>
            <a:ext cx="2313432" cy="3886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>
              <a:avLst/>
            </a:prstTxWarp>
            <a:spAutoFit/>
          </a:bodyPr>
          <a:lstStyle/>
          <a:p>
            <a:pPr algn="r"/>
            <a:fld id="{CAD2D6BD-DE1B-4B5F-8B41-2702339687B9}" type="slidenum">
              <a:rPr lang="en-US" altLang="zh-CN" sz="2400" b="0" i="0" u="none" strike="noStrike" kern="0" cap="none" spc="0" baseline="0">
                <a:solidFill>
                  <a:srgbClr val="898989"/>
                </a:solidFill>
                <a:latin typeface="Droid Sans"/>
                <a:ea typeface="Droid Sans"/>
                <a:cs typeface="Lucida Sans"/>
              </a:rPr>
              <a:t>‹#›</a:t>
            </a:fld>
            <a:endParaRPr lang="zh-CN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88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lvl1pPr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1pPr>
    </p:titleStyle>
    <p:bodyStyle>
      <a:lvl1pPr marL="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1pPr>
      <a:lvl2pPr marL="4572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2pPr>
      <a:lvl3pPr marL="9144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3pPr>
      <a:lvl4pPr marL="13716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4pPr>
      <a:lvl5pPr marL="18288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5pPr>
      <a:lvl6pPr marL="22860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6pPr>
      <a:lvl7pPr marL="27432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7pPr>
      <a:lvl8pPr marL="32004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8pPr>
      <a:lvl9pPr marL="3200400" indent="0" defTabSz="914400" fontAlgn="auto" hangingPunct="1">
        <a:buNone/>
        <a:defRPr sz="1800"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93969" y="211045"/>
            <a:ext cx="4610910" cy="62864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9" name="文本框"/>
          <p:cNvSpPr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143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ctr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altLang="zh-CN" sz="2400" b="1" spc="-10" dirty="0">
                <a:solidFill>
                  <a:srgbClr val="375F92"/>
                </a:solidFill>
                <a:latin typeface="Times New Roman" pitchFamily="18" charset="0"/>
                <a:cs typeface="Times New Roman" pitchFamily="18" charset="0"/>
              </a:rPr>
              <a:t>Data Mining</a:t>
            </a:r>
            <a:r>
              <a:rPr lang="en-US" altLang="zh-CN" sz="2400" b="1" i="0" u="none" strike="noStrike" kern="0" cap="none" spc="-10" baseline="0" dirty="0">
                <a:solidFill>
                  <a:srgbClr val="375F92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Capstone Project</a:t>
            </a:r>
            <a:br>
              <a:rPr lang="zh-CN" altLang="en-US" sz="2200" b="1" i="0" u="none" strike="noStrike" kern="0" cap="none" spc="-10" baseline="0" dirty="0">
                <a:solidFill>
                  <a:srgbClr val="375F92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</a:br>
            <a:r>
              <a:rPr lang="en-US" altLang="zh-CN" sz="2200" b="1" i="0" u="none" strike="noStrike" kern="0" cap="none" spc="-10" baseline="0" dirty="0">
                <a:solidFill>
                  <a:srgbClr val="375F92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Review:1</a:t>
            </a:r>
            <a:endParaRPr lang="zh-CN" altLang="en-US" sz="2200" b="1" i="0" u="none" strike="noStrike" kern="0" cap="none" spc="-10" baseline="0" dirty="0">
              <a:solidFill>
                <a:srgbClr val="375F92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>
            <a:off x="653494" y="2514600"/>
            <a:ext cx="8751412" cy="257634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Palatino Linotype" charset="0"/>
                <a:cs typeface="Palatino Linotype" charset="0"/>
              </a:rPr>
              <a:t>To-Do List Application</a:t>
            </a: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Palatino Linotype" charset="0"/>
              <a:ea typeface="宋体" charset="0"/>
              <a:cs typeface="Palatino Linotype" charset="0"/>
            </a:endParaRPr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endParaRPr lang="en-US" altLang="zh-CN" sz="1950" b="1" i="0" u="none" strike="noStrike" kern="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</a:t>
            </a:r>
            <a:r>
              <a:rPr lang="en-US" altLang="zh-CN" sz="2200" b="1" i="0" u="none" strike="noStrike" kern="0" cap="none" spc="8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200" b="1" i="0" u="none" strike="noStrike" kern="0" cap="none" spc="-25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</a:p>
          <a:p>
            <a:pPr marL="0" indent="0" algn="just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-10" baseline="0" dirty="0">
                <a:solidFill>
                  <a:srgbClr val="17375E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             TEAM MEMBERS </a:t>
            </a:r>
          </a:p>
          <a:p>
            <a:pPr marL="3810" indent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650" b="1" i="0" u="none" strike="noStrike" kern="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</a:t>
            </a:r>
          </a:p>
          <a:p>
            <a:pPr marL="1270" indent="0" algn="ctr">
              <a:lnSpc>
                <a:spcPct val="100000"/>
              </a:lnSpc>
              <a:spcBef>
                <a:spcPts val="993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rgbClr val="943735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DATA SCIENCE</a:t>
            </a:r>
            <a:endParaRPr lang="en-US" altLang="zh-CN" sz="2200" b="1" i="0" u="none" strike="noStrike" kern="0" cap="none" spc="-10" baseline="0" dirty="0">
              <a:solidFill>
                <a:srgbClr val="943735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" indent="0" algn="ctr">
              <a:lnSpc>
                <a:spcPct val="100000"/>
              </a:lnSpc>
              <a:spcBef>
                <a:spcPts val="993"/>
              </a:spcBef>
              <a:spcAft>
                <a:spcPts val="0"/>
              </a:spcAft>
              <a:buNone/>
            </a:pPr>
            <a:endParaRPr lang="zh-CN" altLang="en-US" sz="1650" b="1" i="0" u="none" strike="noStrike" kern="0" cap="none" spc="-10" baseline="0" dirty="0">
              <a:solidFill>
                <a:srgbClr val="943735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6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0" name="矩形"/>
          <p:cNvSpPr>
            <a:spLocks/>
          </p:cNvSpPr>
          <p:nvPr/>
        </p:nvSpPr>
        <p:spPr>
          <a:xfrm>
            <a:off x="1258220" y="1497893"/>
            <a:ext cx="3032125" cy="34963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389890" indent="-37719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-1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Abstract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89890" indent="-37719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Introduction</a:t>
            </a:r>
          </a:p>
          <a:p>
            <a:pPr marL="389890" indent="-37719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Analysis</a:t>
            </a:r>
          </a:p>
          <a:p>
            <a:pPr marL="389890" indent="-37719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Requirements</a:t>
            </a:r>
          </a:p>
          <a:p>
            <a:pPr marL="389890" indent="-37719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5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Methodology</a:t>
            </a:r>
          </a:p>
          <a:p>
            <a:pPr marL="389890" indent="-37719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Tx/>
              <a:buAutoNum type="arabicPeriod"/>
              <a:tabLst>
                <a:tab pos="389890" algn="l"/>
              </a:tabLst>
            </a:pPr>
            <a:r>
              <a:rPr lang="en-US" altLang="zh-CN" sz="2400" b="0" i="0" u="none" strike="noStrike" kern="0" cap="none" spc="5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Conclusion</a:t>
            </a:r>
            <a:endParaRPr lang="zh-CN" altLang="en-US" sz="2400" b="0" i="0" u="none" strike="noStrike" kern="0" cap="none" spc="5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grpSp>
        <p:nvGrpSpPr>
          <p:cNvPr id="35" name="组合"/>
          <p:cNvGrpSpPr>
            <a:grpSpLocks/>
          </p:cNvGrpSpPr>
          <p:nvPr/>
        </p:nvGrpSpPr>
        <p:grpSpPr>
          <a:xfrm>
            <a:off x="2438400" y="33670"/>
            <a:ext cx="5334000" cy="1198310"/>
            <a:chOff x="2438400" y="33670"/>
            <a:chExt cx="5334000" cy="1198310"/>
          </a:xfrm>
        </p:grpSpPr>
        <p:pic>
          <p:nvPicPr>
            <p:cNvPr id="31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400" y="33670"/>
              <a:ext cx="5334000" cy="1198310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32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5887" y="72961"/>
              <a:ext cx="5223079" cy="109227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33" name="图片"/>
            <p:cNvPicPr>
              <a:picLocks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27285" y="230071"/>
              <a:ext cx="4791984" cy="522564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34" name="曲线"/>
            <p:cNvSpPr>
              <a:spLocks/>
            </p:cNvSpPr>
            <p:nvPr/>
          </p:nvSpPr>
          <p:spPr>
            <a:xfrm>
              <a:off x="2684771" y="269414"/>
              <a:ext cx="4681227" cy="41655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矩形"/>
          <p:cNvSpPr>
            <a:spLocks/>
          </p:cNvSpPr>
          <p:nvPr/>
        </p:nvSpPr>
        <p:spPr>
          <a:xfrm>
            <a:off x="3604543" y="286092"/>
            <a:ext cx="2853689" cy="349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 Outline</a:t>
            </a:r>
            <a:endParaRPr lang="zh-CN" altLang="en-US" sz="220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8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"/>
          <p:cNvGrpSpPr>
            <a:grpSpLocks/>
          </p:cNvGrpSpPr>
          <p:nvPr/>
        </p:nvGrpSpPr>
        <p:grpSpPr>
          <a:xfrm>
            <a:off x="2667000" y="53695"/>
            <a:ext cx="5103903" cy="1198311"/>
            <a:chOff x="2667000" y="53695"/>
            <a:chExt cx="5103903" cy="1198311"/>
          </a:xfrm>
        </p:grpSpPr>
        <p:pic>
          <p:nvPicPr>
            <p:cNvPr id="37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53695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38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2007" y="92986"/>
              <a:ext cx="4997767" cy="109227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39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737" y="250096"/>
              <a:ext cx="4585268" cy="5225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40" name="曲线"/>
            <p:cNvSpPr>
              <a:spLocks/>
            </p:cNvSpPr>
            <p:nvPr/>
          </p:nvSpPr>
          <p:spPr>
            <a:xfrm>
              <a:off x="2902743" y="289439"/>
              <a:ext cx="4479290" cy="41655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文本框"/>
          <p:cNvSpPr>
            <a:spLocks noGrp="1"/>
          </p:cNvSpPr>
          <p:nvPr>
            <p:ph type="title"/>
          </p:nvPr>
        </p:nvSpPr>
        <p:spPr>
          <a:xfrm>
            <a:off x="4343400" y="325191"/>
            <a:ext cx="2167890" cy="3117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ABSTRACT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43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EE80A-2940-87BF-0A84-2CB50BE2B827}"/>
              </a:ext>
            </a:extLst>
          </p:cNvPr>
          <p:cNvSpPr txBox="1"/>
          <p:nvPr/>
        </p:nvSpPr>
        <p:spPr>
          <a:xfrm>
            <a:off x="639746" y="1200597"/>
            <a:ext cx="9001250" cy="558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</a:rPr>
              <a:t>1.Web-Based Task Management System:</a:t>
            </a:r>
            <a:br>
              <a:rPr lang="en-US" sz="2000" b="1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A To-Do List application built using the MERN stack to help users organize and manage daily tasks efficiently.</a:t>
            </a:r>
          </a:p>
          <a:p>
            <a:r>
              <a:rPr lang="en-US" sz="2000" b="1" dirty="0">
                <a:latin typeface="Times New Roman" panose="02020603050405020304" pitchFamily="18" charset="0"/>
              </a:rPr>
              <a:t>2.Task Operations &amp; Tracking: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Users can add, update, delete, and monitor tasks with real-time status updates.</a:t>
            </a:r>
          </a:p>
          <a:p>
            <a:r>
              <a:rPr lang="en-US" sz="2000" b="1" dirty="0">
                <a:latin typeface="Times New Roman" panose="02020603050405020304" pitchFamily="18" charset="0"/>
              </a:rPr>
              <a:t>3.Progress Visualization: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Graphical representation of task completion using Chart.js/Recharts for better productivity tracking.</a:t>
            </a:r>
          </a:p>
          <a:p>
            <a:r>
              <a:rPr lang="en-US" sz="2000" b="1" dirty="0">
                <a:latin typeface="Times New Roman" panose="02020603050405020304" pitchFamily="18" charset="0"/>
              </a:rPr>
              <a:t>4.User Authentication &amp; Security: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Secure login and authorization implemented using JWT (JSON Web Token).</a:t>
            </a:r>
          </a:p>
          <a:p>
            <a:r>
              <a:rPr lang="en-US" sz="2000" b="1" dirty="0">
                <a:latin typeface="Times New Roman" panose="02020603050405020304" pitchFamily="18" charset="0"/>
              </a:rPr>
              <a:t>5.Full-Stack MERN Architecture: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Developed using MongoDB (database), Express.js (backend APIs), React.js (frontend UI), and Node.js (server runtime).</a:t>
            </a:r>
          </a:p>
          <a:p>
            <a:r>
              <a:rPr lang="en-US" sz="2000" b="1" dirty="0">
                <a:latin typeface="Times New Roman" panose="02020603050405020304" pitchFamily="18" charset="0"/>
              </a:rPr>
              <a:t>6.Interactive &amp; User-Friendly Interface: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Built with HTML, CSS, and JavaScript to provide a responsive and smooth user experience.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5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"/>
          <p:cNvGrpSpPr>
            <a:grpSpLocks/>
          </p:cNvGrpSpPr>
          <p:nvPr/>
        </p:nvGrpSpPr>
        <p:grpSpPr>
          <a:xfrm>
            <a:off x="2667000" y="85008"/>
            <a:ext cx="5103903" cy="1198311"/>
            <a:chOff x="2667000" y="85008"/>
            <a:chExt cx="5103903" cy="1198311"/>
          </a:xfrm>
        </p:grpSpPr>
        <p:pic>
          <p:nvPicPr>
            <p:cNvPr id="45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85008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46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2007" y="124299"/>
              <a:ext cx="4997767" cy="109227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47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737" y="281409"/>
              <a:ext cx="4585268" cy="5225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48" name="曲线"/>
            <p:cNvSpPr>
              <a:spLocks/>
            </p:cNvSpPr>
            <p:nvPr/>
          </p:nvSpPr>
          <p:spPr>
            <a:xfrm>
              <a:off x="2902743" y="320752"/>
              <a:ext cx="4479290" cy="41655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矩形"/>
          <p:cNvSpPr>
            <a:spLocks/>
          </p:cNvSpPr>
          <p:nvPr/>
        </p:nvSpPr>
        <p:spPr>
          <a:xfrm>
            <a:off x="3954952" y="344896"/>
            <a:ext cx="5029200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INTRODUCTION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pic>
        <p:nvPicPr>
          <p:cNvPr id="51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2" name="矩形"/>
          <p:cNvSpPr>
            <a:spLocks/>
          </p:cNvSpPr>
          <p:nvPr/>
        </p:nvSpPr>
        <p:spPr>
          <a:xfrm>
            <a:off x="723900" y="1192682"/>
            <a:ext cx="8610600" cy="16200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000" b="0" i="0" u="none" strike="noStrike" kern="0" cap="none" spc="0" baseline="0" dirty="0">
              <a:solidFill>
                <a:schemeClr val="tx1"/>
              </a:solidFill>
              <a:latin typeface="Droid Sans"/>
              <a:ea typeface="Droid Sans"/>
              <a:cs typeface="Lucida San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B59AD51-16DF-73A9-165C-7958E8E23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28" y="1094403"/>
            <a:ext cx="978614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Project Overview: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 To-Do List Application is a web-based system designed to help users efficiently manage and organize their daily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Problem Statement: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Many individuals struggle with time management and tracking tasks, leading to reduced productivity and missed deadlines.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Proposed Solution: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This application provides a simple, interactive, and centralized platform to create, manage, and monitor tasks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Technology Stack: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The system is developed using the MERN stack (MongoDB, Express.js, React.js, Node.js) for full-stack web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Key Features: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Includes task creation and management, progress tracking through graphs, reminders, and secure user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Objective: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To improve productivity and time management by offering a structured and user-friendly task management solution.</a:t>
            </a:r>
          </a:p>
        </p:txBody>
      </p:sp>
    </p:spTree>
    <p:extLst>
      <p:ext uri="{BB962C8B-B14F-4D97-AF65-F5344CB8AC3E}">
        <p14:creationId xmlns:p14="http://schemas.microsoft.com/office/powerpoint/2010/main" val="114557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"/>
          <p:cNvGrpSpPr>
            <a:grpSpLocks/>
          </p:cNvGrpSpPr>
          <p:nvPr/>
        </p:nvGrpSpPr>
        <p:grpSpPr>
          <a:xfrm>
            <a:off x="2667000" y="85008"/>
            <a:ext cx="5103903" cy="1198311"/>
            <a:chOff x="2667000" y="85008"/>
            <a:chExt cx="5103903" cy="1198311"/>
          </a:xfrm>
        </p:grpSpPr>
        <p:pic>
          <p:nvPicPr>
            <p:cNvPr id="53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85008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4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2007" y="124299"/>
              <a:ext cx="4997767" cy="109227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5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737" y="281409"/>
              <a:ext cx="4585268" cy="5225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56" name="曲线"/>
            <p:cNvSpPr>
              <a:spLocks/>
            </p:cNvSpPr>
            <p:nvPr/>
          </p:nvSpPr>
          <p:spPr>
            <a:xfrm>
              <a:off x="2902743" y="320752"/>
              <a:ext cx="4479290" cy="41655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8" name="矩形"/>
          <p:cNvSpPr>
            <a:spLocks/>
          </p:cNvSpPr>
          <p:nvPr/>
        </p:nvSpPr>
        <p:spPr>
          <a:xfrm>
            <a:off x="4412373" y="321324"/>
            <a:ext cx="5029200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ANALYSIS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>
            <a:off x="762000" y="1467187"/>
            <a:ext cx="8534400" cy="52014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Existing System</a:t>
            </a:r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1.Tasks are managed using </a:t>
            </a:r>
            <a:r>
              <a:rPr lang="en-US" sz="2000" b="1" dirty="0">
                <a:latin typeface="Times New Roman" panose="02020603050405020304" pitchFamily="18" charset="0"/>
              </a:rPr>
              <a:t>manual methods</a:t>
            </a:r>
            <a:r>
              <a:rPr lang="en-US" sz="2000" dirty="0">
                <a:latin typeface="Times New Roman" panose="02020603050405020304" pitchFamily="18" charset="0"/>
              </a:rPr>
              <a:t> like notebooks, sticky notes, or diaries.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2.Some users rely on </a:t>
            </a:r>
            <a:r>
              <a:rPr lang="en-US" sz="2000" b="1" dirty="0">
                <a:latin typeface="Times New Roman" panose="02020603050405020304" pitchFamily="18" charset="0"/>
              </a:rPr>
              <a:t>basic mobile note applications</a:t>
            </a:r>
            <a:r>
              <a:rPr lang="en-US" sz="2000" dirty="0">
                <a:latin typeface="Times New Roman" panose="02020603050405020304" pitchFamily="18" charset="0"/>
              </a:rPr>
              <a:t> without advanced tracking features.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3.Limited or no </a:t>
            </a:r>
            <a:r>
              <a:rPr lang="en-US" sz="2000" b="1" dirty="0">
                <a:latin typeface="Times New Roman" panose="02020603050405020304" pitchFamily="18" charset="0"/>
              </a:rPr>
              <a:t>progress visualization</a:t>
            </a:r>
            <a:r>
              <a:rPr lang="en-US" sz="2000" dirty="0">
                <a:latin typeface="Times New Roman" panose="02020603050405020304" pitchFamily="18" charset="0"/>
              </a:rPr>
              <a:t> in traditional task management methods.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4.No centralized platform to store and manage tasks securely.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Most systems lack proper </a:t>
            </a:r>
            <a:r>
              <a:rPr lang="en-US" sz="2000" b="1" dirty="0">
                <a:latin typeface="Times New Roman" panose="02020603050405020304" pitchFamily="18" charset="0"/>
              </a:rPr>
              <a:t>reminder and notification features</a:t>
            </a:r>
            <a:r>
              <a:rPr lang="en-US" sz="2000" dirty="0">
                <a:latin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5.Data is not synchronized across multiple devices in many traditional systems.</a:t>
            </a:r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pic>
        <p:nvPicPr>
          <p:cNvPr id="60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3369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"/>
          <p:cNvSpPr>
            <a:spLocks/>
          </p:cNvSpPr>
          <p:nvPr/>
        </p:nvSpPr>
        <p:spPr>
          <a:xfrm>
            <a:off x="4412373" y="321324"/>
            <a:ext cx="5029200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ANALYSIS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>
            <a:off x="762000" y="1143000"/>
            <a:ext cx="8534400" cy="12472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Limitations of Existing System: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pic>
        <p:nvPicPr>
          <p:cNvPr id="63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920BE1-5995-6E0D-89A9-28E7679C57C7}"/>
              </a:ext>
            </a:extLst>
          </p:cNvPr>
          <p:cNvSpPr txBox="1"/>
          <p:nvPr/>
        </p:nvSpPr>
        <p:spPr>
          <a:xfrm>
            <a:off x="1068650" y="2229970"/>
            <a:ext cx="7128990" cy="252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893759C-73DB-CD23-FD87-2DF1BA66D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90" y="1766632"/>
            <a:ext cx="825684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.No Progress Tracking: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Users cannot visually monitor task completion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2.Poor Time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No reminders or deadline alerts lead to missed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3.Limited Accessibility: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Tasks cannot be accessed anytime from different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4.Data Loss Risk: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Physical notes or unsaved data can be lost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5.No 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No proper authentication or user data protection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6.Lack of Organization: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Tasks can be misplaced or forgotten in manual systems.</a:t>
            </a:r>
          </a:p>
        </p:txBody>
      </p:sp>
    </p:spTree>
    <p:extLst>
      <p:ext uri="{BB962C8B-B14F-4D97-AF65-F5344CB8AC3E}">
        <p14:creationId xmlns:p14="http://schemas.microsoft.com/office/powerpoint/2010/main" val="168724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"/>
          <p:cNvSpPr>
            <a:spLocks/>
          </p:cNvSpPr>
          <p:nvPr/>
        </p:nvSpPr>
        <p:spPr>
          <a:xfrm>
            <a:off x="4412373" y="321324"/>
            <a:ext cx="5029200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Palatino Linotype" charset="0"/>
                <a:ea typeface="Droid Sans"/>
                <a:cs typeface="Lucida Sans"/>
              </a:rPr>
              <a:t>ANALYSIS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Palatino Linotype" charset="0"/>
              <a:ea typeface="Droid Sans"/>
              <a:cs typeface="Lucida Sans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>
            <a:off x="320047" y="722899"/>
            <a:ext cx="8565271" cy="65641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Proposed System :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1.Develop a </a:t>
            </a:r>
            <a:r>
              <a:rPr lang="en-US" sz="2000" b="1" dirty="0">
                <a:latin typeface="Times New Roman" panose="02020603050405020304" pitchFamily="18" charset="0"/>
              </a:rPr>
              <a:t>web-based To-Do List Application</a:t>
            </a:r>
            <a:r>
              <a:rPr lang="en-US" sz="2000" dirty="0">
                <a:latin typeface="Times New Roman" panose="02020603050405020304" pitchFamily="18" charset="0"/>
              </a:rPr>
              <a:t> using the MERN stack for efficient task management.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2.Provide secure </a:t>
            </a:r>
            <a:r>
              <a:rPr lang="en-US" sz="2000" b="1" dirty="0">
                <a:latin typeface="Times New Roman" panose="02020603050405020304" pitchFamily="18" charset="0"/>
              </a:rPr>
              <a:t>user authentication using JWT</a:t>
            </a:r>
            <a:r>
              <a:rPr lang="en-US" sz="2000" dirty="0">
                <a:latin typeface="Times New Roman" panose="02020603050405020304" pitchFamily="18" charset="0"/>
              </a:rPr>
              <a:t> to protect personal task data.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3.Enable users to </a:t>
            </a:r>
            <a:r>
              <a:rPr lang="en-US" sz="2000" b="1" dirty="0">
                <a:latin typeface="Times New Roman" panose="02020603050405020304" pitchFamily="18" charset="0"/>
              </a:rPr>
              <a:t>add, update, delete, and track tasks</a:t>
            </a:r>
            <a:r>
              <a:rPr lang="en-US" sz="2000" dirty="0">
                <a:latin typeface="Times New Roman" panose="02020603050405020304" pitchFamily="18" charset="0"/>
              </a:rPr>
              <a:t> in a centralized system.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Integrate a </a:t>
            </a:r>
            <a:r>
              <a:rPr lang="en-US" sz="2000" b="1" dirty="0">
                <a:latin typeface="Times New Roman" panose="02020603050405020304" pitchFamily="18" charset="0"/>
              </a:rPr>
              <a:t>Reminder system</a:t>
            </a:r>
            <a:r>
              <a:rPr lang="en-US" sz="2000" dirty="0">
                <a:latin typeface="Times New Roman" panose="02020603050405020304" pitchFamily="18" charset="0"/>
              </a:rPr>
              <a:t> to notify users about important deadlines.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4.Implement </a:t>
            </a:r>
            <a:r>
              <a:rPr lang="en-US" sz="2000" b="1" dirty="0">
                <a:latin typeface="Times New Roman" panose="02020603050405020304" pitchFamily="18" charset="0"/>
              </a:rPr>
              <a:t>graphical progress tracking</a:t>
            </a:r>
            <a:r>
              <a:rPr lang="en-US" sz="2000" dirty="0">
                <a:latin typeface="Times New Roman" panose="02020603050405020304" pitchFamily="18" charset="0"/>
              </a:rPr>
              <a:t> using charts for better productivity monitoring.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5.Design a </a:t>
            </a:r>
            <a:r>
              <a:rPr lang="en-US" sz="2000" b="1" dirty="0">
                <a:latin typeface="Times New Roman" panose="02020603050405020304" pitchFamily="18" charset="0"/>
              </a:rPr>
              <a:t>responsive and user-friendly interface</a:t>
            </a:r>
            <a:r>
              <a:rPr lang="en-US" sz="2000" dirty="0">
                <a:latin typeface="Times New Roman" panose="02020603050405020304" pitchFamily="18" charset="0"/>
              </a:rPr>
              <a:t> for smooth user experience across devices.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" b="0" i="0" u="none" strike="noStrike" kern="0" cap="none" spc="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pitchFamily="18" charset="0"/>
              </a:rPr>
              <a:t>Key Advantages of Proposed System: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Improved Productivity:</a:t>
            </a:r>
            <a:r>
              <a:rPr lang="en-US" sz="1800" dirty="0">
                <a:latin typeface="Times New Roman" panose="02020603050405020304" pitchFamily="18" charset="0"/>
              </a:rPr>
              <a:t> Helps users organize and complete tasks efficiently.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Secure Access:</a:t>
            </a:r>
            <a:r>
              <a:rPr lang="en-US" sz="1800" dirty="0">
                <a:latin typeface="Times New Roman" panose="02020603050405020304" pitchFamily="18" charset="0"/>
              </a:rPr>
              <a:t> JWT-based authentication ensures data protection.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Real-Time Task Management:</a:t>
            </a:r>
            <a:r>
              <a:rPr lang="en-US" sz="1800" dirty="0">
                <a:latin typeface="Times New Roman" panose="02020603050405020304" pitchFamily="18" charset="0"/>
              </a:rPr>
              <a:t> Instant updates and status tracking</a:t>
            </a:r>
            <a:r>
              <a:rPr lang="en-US" sz="2000" dirty="0">
                <a:latin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</a:rPr>
              <a:t>Visual Progress Analysis:</a:t>
            </a:r>
            <a:r>
              <a:rPr lang="en-US" sz="2000" dirty="0">
                <a:latin typeface="Times New Roman" panose="02020603050405020304" pitchFamily="18" charset="0"/>
              </a:rPr>
              <a:t> Graphical reports help monitor performance.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</a:rPr>
              <a:t>Accessibility:</a:t>
            </a:r>
            <a:r>
              <a:rPr lang="en-US" sz="2000" dirty="0">
                <a:latin typeface="Times New Roman" panose="02020603050405020304" pitchFamily="18" charset="0"/>
              </a:rPr>
              <a:t> Can be accessed anytime through a web browser</a:t>
            </a:r>
            <a:r>
              <a:rPr lang="en-US" sz="2000" dirty="0"/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pic>
        <p:nvPicPr>
          <p:cNvPr id="66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3358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"/>
          <p:cNvGrpSpPr>
            <a:grpSpLocks/>
          </p:cNvGrpSpPr>
          <p:nvPr/>
        </p:nvGrpSpPr>
        <p:grpSpPr>
          <a:xfrm>
            <a:off x="2667000" y="85008"/>
            <a:ext cx="5103903" cy="1198311"/>
            <a:chOff x="2667000" y="85008"/>
            <a:chExt cx="5103903" cy="1198311"/>
          </a:xfrm>
        </p:grpSpPr>
        <p:pic>
          <p:nvPicPr>
            <p:cNvPr id="67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000" y="85008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68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2007" y="124299"/>
              <a:ext cx="4997767" cy="109227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69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7737" y="281409"/>
              <a:ext cx="4585268" cy="5225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70" name="曲线"/>
            <p:cNvSpPr>
              <a:spLocks/>
            </p:cNvSpPr>
            <p:nvPr/>
          </p:nvSpPr>
          <p:spPr>
            <a:xfrm>
              <a:off x="2902743" y="320752"/>
              <a:ext cx="4479290" cy="41655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2" name="矩形"/>
          <p:cNvSpPr>
            <a:spLocks/>
          </p:cNvSpPr>
          <p:nvPr/>
        </p:nvSpPr>
        <p:spPr>
          <a:xfrm>
            <a:off x="4038600" y="332822"/>
            <a:ext cx="5029200" cy="386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REQUIREMENTS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>
            <a:off x="852620" y="1053128"/>
            <a:ext cx="8440650" cy="64256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Processor: </a:t>
            </a:r>
            <a:r>
              <a:rPr lang="en-US" sz="2000" dirty="0">
                <a:latin typeface="Times New Roman" panose="02020603050405020304" pitchFamily="18" charset="0"/>
              </a:rPr>
              <a:t>Intel i3 or above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RAM: </a:t>
            </a:r>
            <a:r>
              <a:rPr lang="en-US" sz="2000" dirty="0">
                <a:latin typeface="Times New Roman" panose="02020603050405020304" pitchFamily="18" charset="0"/>
              </a:rPr>
              <a:t>Minimum 4 GB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Hard Disk: </a:t>
            </a:r>
            <a:r>
              <a:rPr lang="en-US" sz="2000" dirty="0">
                <a:latin typeface="Times New Roman" panose="02020603050405020304" pitchFamily="18" charset="0"/>
              </a:rPr>
              <a:t>20 GB free space</a:t>
            </a:r>
            <a:endParaRPr lang="en-IN" sz="2000" dirty="0">
              <a:latin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1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Operating System: </a:t>
            </a:r>
            <a:r>
              <a:rPr lang="en-US" sz="2000" dirty="0">
                <a:latin typeface="Times New Roman" panose="02020603050405020304" pitchFamily="18" charset="0"/>
              </a:rPr>
              <a:t>Windows 10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JDK Version: </a:t>
            </a:r>
            <a:r>
              <a:rPr lang="en-US" sz="2000" dirty="0">
                <a:latin typeface="Times New Roman" panose="02020603050405020304" pitchFamily="18" charset="0"/>
              </a:rPr>
              <a:t>JDK 8 or above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Tool Used: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</a:rPr>
              <a:t>WEKA 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</a:rPr>
              <a:t>Dataset Format</a:t>
            </a:r>
            <a:endParaRPr lang="en-IN" sz="2000" dirty="0">
              <a:latin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</a:rPr>
              <a:t>CSV (.csv)</a:t>
            </a:r>
            <a:endParaRPr lang="en-IN" sz="2000" dirty="0">
              <a:latin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</a:rPr>
              <a:t>ARFF (.</a:t>
            </a:r>
            <a:r>
              <a:rPr lang="en-IN" sz="2000" b="1" dirty="0" err="1">
                <a:latin typeface="Times New Roman" panose="02020603050405020304" pitchFamily="18" charset="0"/>
              </a:rPr>
              <a:t>arff</a:t>
            </a:r>
            <a:r>
              <a:rPr lang="en-IN" sz="2000" b="1" dirty="0">
                <a:latin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</a:rPr>
              <a:t>Supporting Software:</a:t>
            </a:r>
            <a:r>
              <a:rPr lang="en-IN" sz="2000" dirty="0">
                <a:latin typeface="Times New Roman" panose="02020603050405020304" pitchFamily="18" charset="0"/>
              </a:rPr>
              <a:t> MS Excel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pic>
        <p:nvPicPr>
          <p:cNvPr id="74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7439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"/>
          <p:cNvSpPr>
            <a:spLocks/>
          </p:cNvSpPr>
          <p:nvPr/>
        </p:nvSpPr>
        <p:spPr>
          <a:xfrm>
            <a:off x="872250" y="1037173"/>
            <a:ext cx="7924801" cy="59150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0" cap="none" spc="0" baseline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Modules:</a:t>
            </a:r>
            <a:endParaRPr lang="zh-CN" altLang="en-US" sz="2400" b="1" i="0" u="none" strike="noStrike" kern="0" cap="none" spc="0" baseline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grpSp>
        <p:nvGrpSpPr>
          <p:cNvPr id="80" name="组合"/>
          <p:cNvGrpSpPr>
            <a:grpSpLocks/>
          </p:cNvGrpSpPr>
          <p:nvPr/>
        </p:nvGrpSpPr>
        <p:grpSpPr>
          <a:xfrm>
            <a:off x="2590800" y="161097"/>
            <a:ext cx="5103903" cy="1198311"/>
            <a:chOff x="2590800" y="161097"/>
            <a:chExt cx="5103903" cy="1198311"/>
          </a:xfrm>
        </p:grpSpPr>
        <p:pic>
          <p:nvPicPr>
            <p:cNvPr id="76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800" y="161097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77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5807" y="200388"/>
              <a:ext cx="4997767" cy="109227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78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1537" y="357498"/>
              <a:ext cx="4585268" cy="522565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79" name="曲线"/>
            <p:cNvSpPr>
              <a:spLocks/>
            </p:cNvSpPr>
            <p:nvPr/>
          </p:nvSpPr>
          <p:spPr>
            <a:xfrm>
              <a:off x="2826543" y="396841"/>
              <a:ext cx="4479290" cy="41655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文本框"/>
          <p:cNvSpPr>
            <a:spLocks noGrp="1"/>
          </p:cNvSpPr>
          <p:nvPr>
            <p:ph type="title"/>
          </p:nvPr>
        </p:nvSpPr>
        <p:spPr>
          <a:xfrm>
            <a:off x="3945255" y="432593"/>
            <a:ext cx="2167889" cy="3117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METHODOLOGY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82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83" name="矩形"/>
          <p:cNvSpPr>
            <a:spLocks/>
          </p:cNvSpPr>
          <p:nvPr/>
        </p:nvSpPr>
        <p:spPr>
          <a:xfrm>
            <a:off x="1143000" y="1589604"/>
            <a:ext cx="8610599" cy="640175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Data Collection:</a:t>
            </a:r>
            <a:r>
              <a:rPr lang="en-US" sz="2000" dirty="0">
                <a:latin typeface="Times New Roman" panose="02020603050405020304" pitchFamily="18" charset="0"/>
              </a:rPr>
              <a:t> Gather library data including student details, book issue/return dates, and book categories.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Data Preprocessing:</a:t>
            </a:r>
            <a:r>
              <a:rPr lang="en-US" sz="2000" dirty="0">
                <a:latin typeface="Times New Roman" panose="02020603050405020304" pitchFamily="18" charset="0"/>
              </a:rPr>
              <a:t> Handle missing values and convert attributes into suitable formats in WEKA.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Classification:</a:t>
            </a:r>
            <a:r>
              <a:rPr lang="en-US" sz="2000" dirty="0">
                <a:latin typeface="Times New Roman" panose="02020603050405020304" pitchFamily="18" charset="0"/>
              </a:rPr>
              <a:t> Apply J48 algorithm to predict academic performance (Good, Average, Poor).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Clustering:</a:t>
            </a:r>
            <a:r>
              <a:rPr lang="en-US" sz="2000" dirty="0">
                <a:latin typeface="Times New Roman" panose="02020603050405020304" pitchFamily="18" charset="0"/>
              </a:rPr>
              <a:t> Group students with similar library usage patterns to identify trends.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Association Rule Mining:</a:t>
            </a:r>
            <a:r>
              <a:rPr lang="en-US" sz="2000" dirty="0">
                <a:latin typeface="Times New Roman" panose="02020603050405020304" pitchFamily="18" charset="0"/>
              </a:rPr>
              <a:t> Find relationships between borrowing habits and academic outcomes.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Data </a:t>
            </a:r>
            <a:r>
              <a:rPr lang="en-US" sz="2000" b="1" dirty="0" err="1">
                <a:latin typeface="Times New Roman" panose="02020603050405020304" pitchFamily="18" charset="0"/>
              </a:rPr>
              <a:t>Visualization:</a:t>
            </a:r>
            <a:r>
              <a:rPr lang="en-US" sz="2000" dirty="0" err="1">
                <a:latin typeface="Times New Roman" panose="02020603050405020304" pitchFamily="18" charset="0"/>
              </a:rPr>
              <a:t>Use</a:t>
            </a:r>
            <a:r>
              <a:rPr lang="en-US" sz="2000" dirty="0">
                <a:latin typeface="Times New Roman" panose="02020603050405020304" pitchFamily="18" charset="0"/>
              </a:rPr>
              <a:t> WEKA’s charts, histograms, and scatter plots to visualize patterns.</a:t>
            </a:r>
            <a:endParaRPr lang="en-US" sz="20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</a:rPr>
              <a:t>Analysis &amp; Reporting:</a:t>
            </a:r>
            <a:r>
              <a:rPr lang="en-US" sz="2000" dirty="0">
                <a:latin typeface="Times New Roman" panose="02020603050405020304" pitchFamily="18" charset="0"/>
              </a:rPr>
              <a:t> Interpret results to provide insights for academic improvement.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12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"/>
          <p:cNvSpPr>
            <a:spLocks/>
          </p:cNvSpPr>
          <p:nvPr/>
        </p:nvSpPr>
        <p:spPr>
          <a:xfrm>
            <a:off x="950117" y="1323261"/>
            <a:ext cx="8574881" cy="542308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Library data can provide valuable insights into students’ academic performance.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Data mining techniques in WEKA help classify, cluster, and analyze borrowing patterns.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Predicting performance as Good, Average, or Poor assists in academic planning.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Association analysis reveals relationships between library usage and learning outcomes.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The system supports data-driven decisions to improve student performance and library services.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0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grpSp>
        <p:nvGrpSpPr>
          <p:cNvPr id="91" name="组合"/>
          <p:cNvGrpSpPr>
            <a:grpSpLocks/>
          </p:cNvGrpSpPr>
          <p:nvPr/>
        </p:nvGrpSpPr>
        <p:grpSpPr>
          <a:xfrm>
            <a:off x="2477248" y="152400"/>
            <a:ext cx="5103903" cy="1198311"/>
            <a:chOff x="2477248" y="152400"/>
            <a:chExt cx="5103903" cy="1198311"/>
          </a:xfrm>
        </p:grpSpPr>
        <p:pic>
          <p:nvPicPr>
            <p:cNvPr id="87" name="图片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7248" y="152400"/>
              <a:ext cx="5103903" cy="1198311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88" name="图片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2255" y="191691"/>
              <a:ext cx="4997767" cy="109227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89" name="图片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7985" y="348801"/>
              <a:ext cx="4585269" cy="522564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90" name="曲线"/>
            <p:cNvSpPr>
              <a:spLocks/>
            </p:cNvSpPr>
            <p:nvPr/>
          </p:nvSpPr>
          <p:spPr>
            <a:xfrm>
              <a:off x="2712991" y="388144"/>
              <a:ext cx="4479290" cy="41655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cxnLst/>
              <a:rect l="T1" t="T2" r="T3" b="T4"/>
              <a:pathLst>
                <a:path w="21600" h="21600">
                  <a:moveTo>
                    <a:pt x="21189" y="0"/>
                  </a:moveTo>
                  <a:lnTo>
                    <a:pt x="409" y="0"/>
                  </a:lnTo>
                  <a:lnTo>
                    <a:pt x="250" y="282"/>
                  </a:lnTo>
                  <a:lnTo>
                    <a:pt x="119" y="1053"/>
                  </a:lnTo>
                  <a:lnTo>
                    <a:pt x="32" y="2194"/>
                  </a:lnTo>
                  <a:lnTo>
                    <a:pt x="0" y="3596"/>
                  </a:lnTo>
                  <a:lnTo>
                    <a:pt x="0" y="17988"/>
                  </a:lnTo>
                  <a:lnTo>
                    <a:pt x="32" y="19390"/>
                  </a:lnTo>
                  <a:lnTo>
                    <a:pt x="119" y="20531"/>
                  </a:lnTo>
                  <a:lnTo>
                    <a:pt x="250" y="21302"/>
                  </a:lnTo>
                  <a:lnTo>
                    <a:pt x="409" y="21585"/>
                  </a:lnTo>
                  <a:lnTo>
                    <a:pt x="21189" y="21585"/>
                  </a:lnTo>
                  <a:lnTo>
                    <a:pt x="21349" y="21302"/>
                  </a:lnTo>
                  <a:lnTo>
                    <a:pt x="21479" y="20531"/>
                  </a:lnTo>
                  <a:lnTo>
                    <a:pt x="21566" y="19390"/>
                  </a:lnTo>
                  <a:lnTo>
                    <a:pt x="21599" y="17988"/>
                  </a:lnTo>
                  <a:lnTo>
                    <a:pt x="21599" y="3596"/>
                  </a:lnTo>
                  <a:lnTo>
                    <a:pt x="21566" y="2194"/>
                  </a:lnTo>
                  <a:lnTo>
                    <a:pt x="21479" y="1053"/>
                  </a:lnTo>
                  <a:lnTo>
                    <a:pt x="21349" y="282"/>
                  </a:lnTo>
                  <a:lnTo>
                    <a:pt x="21189" y="0"/>
                  </a:lnTo>
                  <a:close/>
                </a:path>
              </a:pathLst>
            </a:custGeom>
            <a:solidFill>
              <a:srgbClr val="FF6600"/>
            </a:solidFill>
            <a:ln cap="flat" cmpd="sng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2" name="文本框"/>
          <p:cNvSpPr>
            <a:spLocks noGrp="1"/>
          </p:cNvSpPr>
          <p:nvPr>
            <p:ph type="title"/>
          </p:nvPr>
        </p:nvSpPr>
        <p:spPr>
          <a:xfrm>
            <a:off x="3945255" y="432593"/>
            <a:ext cx="2167889" cy="3117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>
              <a:avLst/>
            </a:prstTxWarp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1950" b="1" i="0" u="none" strike="noStrike" kern="0" cap="none" spc="0" baseline="0">
                <a:solidFill>
                  <a:schemeClr val="bg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1950" b="1" i="0" u="none" strike="noStrike" kern="0" cap="none" spc="0" baseline="0">
              <a:solidFill>
                <a:schemeClr val="bg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93" name="图片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28239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文本框"/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0" cap="none" spc="0" baseline="0">
                <a:solidFill>
                  <a:srgbClr val="E46D0A"/>
                </a:solidFill>
                <a:latin typeface="Palatino Linotype" charset="0"/>
                <a:ea typeface="宋体" charset="0"/>
                <a:cs typeface="Palatino Linotype" charset="0"/>
              </a:rPr>
              <a:t>THANK YOU</a:t>
            </a:r>
            <a:endParaRPr lang="zh-CN" altLang="en-US" sz="4800" b="1" i="0" u="none" strike="noStrike" kern="0" cap="none" spc="0" baseline="0">
              <a:solidFill>
                <a:srgbClr val="E46D0A"/>
              </a:solidFill>
              <a:latin typeface="Palatino Linotype" charset="0"/>
              <a:ea typeface="宋体" charset="0"/>
              <a:cs typeface="Palatino Linotype" charset="0"/>
            </a:endParaRPr>
          </a:p>
        </p:txBody>
      </p:sp>
      <p:pic>
        <p:nvPicPr>
          <p:cNvPr id="100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0927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2562</TotalTime>
  <Words>900</Words>
  <Application>Microsoft Office PowerPoint</Application>
  <PresentationFormat>Custom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Droid Sans</vt:lpstr>
      <vt:lpstr>Palatino Linotype</vt:lpstr>
      <vt:lpstr>Times New Roman</vt:lpstr>
      <vt:lpstr>Office Theme</vt:lpstr>
      <vt:lpstr>Data Mining Capstone Project  Review:1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24B11DS151</cp:lastModifiedBy>
  <cp:revision>49</cp:revision>
  <cp:lastPrinted>2025-10-14T18:21:49Z</cp:lastPrinted>
  <dcterms:created xsi:type="dcterms:W3CDTF">2025-10-10T08:28:06Z</dcterms:created>
  <dcterms:modified xsi:type="dcterms:W3CDTF">2026-02-22T13:47:13Z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2025-09-11T16:00:00Z</vt:filetime>
  </property>
  <property fmtid="{D5CDD505-2E9C-101B-9397-08002B2CF9AE}" pid="3" name="LastSaved">
    <vt:filetime>2025-10-09T16:00:00Z</vt:filetime>
  </property>
</Properties>
</file>